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6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8445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https://www.gnu.org/software/wget/manual/wget.html (cerință: --spider, -O, --input-file)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https://www.gnu.org/software/wget/manual/wget.html (opțiuni: --spider, -O)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https://www.gnu.org/software/wget/manual/wget.html (descriere: --spider; -O/--output-document)
- https://man7.org/linux/man-pages/man1/wget.1.html (exemplu: --spider)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https://www.gnu.org/software/grep/manual/grep.html (opțiuni: -F/--fixed-strings, -x/--line-regexp, -v/--invert-match)
- https://www.gnu.org/software/coreutils/basename (basename: elimină directoare din nume)
- https://www.gnu.org/software/bash/manual/html_node/Shell-Parameter-Expansion.html (parameter expansion)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https://www.gnu.org/software/grep/manual/grep.html (opțiuni: -F, -x, -v, -q)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https://www.gnu.org/software/wget/manual/wget.html (--spider; -O/--output-document)
- https://www.gnu.org/software/coreutils/basename (basename)
- https://www.gnu.org/software/bash/manual/html_node/Shell-Parameter-Expansion.html (parameter expansion)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https://www.gnu.org/software/grep/manual/grep.html (-F/--fixed-strings, -x/--line-regexp, -v/--invert-match)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https://www.gnu.org/software/grep/manual/grep.html (-F/--fixed-strings, -x/--line-regexp)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https://www.gnu.org/software/wget/manual/wget.html (--spider; -O/--output-document)
- https://www.gnu.org/software/grep/manual/grep.html (-F, -x, -v, -q)
- https://www.gnu.org/software/coreutils/basename (basename)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https://www.gnu.org/software/wget/manual/wget.html (--base; --force-html pentru input HTML)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https://www.gnu.org/software/wget/manual/wget.html (--spider)
- https://www.gnu.org/software/grep/manual/grep.html (-F, -x)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v-labs.com/experience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0E1A2B"/>
          </a:solidFill>
          <a:ln w="12700">
            <a:solidFill>
              <a:srgbClr val="0E1A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103120"/>
            <a:ext cx="12191695" cy="73152"/>
          </a:xfrm>
          <a:prstGeom prst="rect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777240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LazyWGET (lwget)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68680" y="1600200"/>
            <a:ext cx="104543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8C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Downloader HTML “lazy” pe niveluri, cu promisiuni persistente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2743200"/>
            <a:ext cx="10545775" cy="3566160"/>
          </a:xfrm>
          <a:prstGeom prst="roundRect">
            <a:avLst/>
          </a:prstGeom>
          <a:solidFill>
            <a:srgbClr val="0F223A"/>
          </a:solidFill>
          <a:ln w="12700">
            <a:solidFill>
              <a:srgbClr val="203A5C"/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280" y="2971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Echipă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3291840"/>
            <a:ext cx="99971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8C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AVRAMESCU CARLOS CRISTIAN (individual)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3886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4187952"/>
            <a:ext cx="9997135" cy="1002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9550" indent="-20955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B8C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Script Bash care folosește wget nerecursiv pentru 1 document HTML per apel</a:t>
            </a:r>
            <a:endParaRPr lang="en-US" sz="1500" dirty="0"/>
          </a:p>
          <a:p>
            <a:pPr marL="209550" indent="-20955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B8C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Linkurile HTML devin “pending” și sunt evaluate doar la apeluri ulterioare</a:t>
            </a:r>
            <a:endParaRPr lang="en-US" sz="1500" dirty="0"/>
          </a:p>
          <a:p>
            <a:pPr marL="209550" indent="-20955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B8C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Stare persistentă: pending.txt + downloaded.txt (în directorul de download)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E1A2B"/>
          </a:solidFill>
          <a:ln w="12700">
            <a:solidFill>
              <a:srgbClr val="0E1A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09441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Rezumat + Repository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 face lwget și cum se diferențiază de wget -r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097280"/>
            <a:ext cx="6400800" cy="5394960"/>
          </a:xfrm>
          <a:prstGeom prst="roundRect">
            <a:avLst/>
          </a:prstGeom>
          <a:solidFill>
            <a:srgbClr val="0F223A"/>
          </a:solidFill>
          <a:ln w="12700">
            <a:solidFill>
              <a:srgbClr val="203A5C"/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32588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Rezumat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1737360"/>
            <a:ext cx="5989320" cy="12123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9550" indent="-20955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fiecare apel, descarcă un singur HTML (nerecursiv).</a:t>
            </a:r>
            <a:endParaRPr lang="en-US" sz="1500" dirty="0"/>
          </a:p>
          <a:p>
            <a:pPr marL="209550" indent="-20955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Parsează HTML-ul local și extrage linkuri HTML absolute (http/https).</a:t>
            </a:r>
            <a:endParaRPr lang="en-US" sz="1500" dirty="0"/>
          </a:p>
          <a:p>
            <a:pPr marL="209550" indent="-20955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Linkurile devin promisiuni (pending) și nu sunt descărcate automat.</a:t>
            </a:r>
            <a:endParaRPr lang="en-US" sz="1500" dirty="0"/>
          </a:p>
          <a:p>
            <a:pPr marL="209550" indent="-20955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apel ulterior lwget &lt;URL&gt; “evaluează” promisiunea: pending → downloaded.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60920" y="1097280"/>
            <a:ext cx="4142232" cy="5394960"/>
          </a:xfrm>
          <a:prstGeom prst="roundRect">
            <a:avLst/>
          </a:prstGeom>
          <a:solidFill>
            <a:srgbClr val="102A46"/>
          </a:solidFill>
          <a:ln w="12700">
            <a:solidFill>
              <a:srgbClr val="203A5C"/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635240" y="1325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635240" y="17556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C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(public):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635240" y="2057400"/>
            <a:ext cx="3611880" cy="594360"/>
          </a:xfrm>
          <a:prstGeom prst="roundRect">
            <a:avLst/>
          </a:prstGeom>
          <a:solidFill>
            <a:srgbClr val="071427"/>
          </a:solidFill>
          <a:ln w="12700">
            <a:solidFill>
              <a:srgbClr val="20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18120" y="2212848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https://github.com/ywaittt/LazyWGET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635240" y="2926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ce “lazy”?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35240" y="3246120"/>
            <a:ext cx="3749040" cy="7513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5580" indent="-19558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B8C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wget -r urmează linkurile imediat (recursiv).</a:t>
            </a:r>
            <a:endParaRPr lang="en-US" sz="1400" dirty="0"/>
          </a:p>
          <a:p>
            <a:pPr marL="195580" indent="-19558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B8C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lwget păstrează linkurile ca listă de promisiuni, evaluate la cerere.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E1A2B"/>
          </a:solidFill>
          <a:ln w="12700">
            <a:solidFill>
              <a:srgbClr val="0E1A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09441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Utilitare și comenzi (1/3): wget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Opțiunile “grele” folosite pentru verificare și descărcare controlată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097280"/>
            <a:ext cx="5440680" cy="5394960"/>
          </a:xfrm>
          <a:prstGeom prst="roundRect">
            <a:avLst/>
          </a:prstGeom>
          <a:solidFill>
            <a:srgbClr val="0F223A"/>
          </a:solidFill>
          <a:ln w="12700">
            <a:solidFill>
              <a:srgbClr val="203A5C"/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32588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wget: rol în proiect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1691640"/>
            <a:ext cx="5074920" cy="1002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9550" indent="-20955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--spider: verifică accesibilitatea URL-ului fără a descărca pagina</a:t>
            </a:r>
            <a:endParaRPr lang="en-US" sz="1500" dirty="0"/>
          </a:p>
          <a:p>
            <a:pPr marL="209550" indent="-20955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-O / --output-document: salvează documentul în fișierul ales (1 HTML per apel)</a:t>
            </a:r>
            <a:endParaRPr lang="en-US" sz="1500" dirty="0"/>
          </a:p>
          <a:p>
            <a:pPr marL="209550" indent="-20955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Opțional (debug): -S / --server-response pentru antete HTTP în timpul depanării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60120" y="4709160"/>
            <a:ext cx="4754880" cy="310896"/>
          </a:xfrm>
          <a:prstGeom prst="roundRect">
            <a:avLst/>
          </a:prstGeom>
          <a:solidFill>
            <a:srgbClr val="0B2440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24712" y="4773168"/>
            <a:ext cx="44256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Motivație: “fail-fast” pe URL invalid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507492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C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Înainte de download, scriptul verifică URL-ul cu --spider și oprește dacă eșuează.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1097280"/>
            <a:ext cx="5102352" cy="5394960"/>
          </a:xfrm>
          <a:prstGeom prst="roundRect">
            <a:avLst/>
          </a:prstGeom>
          <a:solidFill>
            <a:srgbClr val="0A1627"/>
          </a:solidFill>
          <a:ln w="12700">
            <a:solidFill>
              <a:srgbClr val="203A5C"/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675120" y="1325880"/>
            <a:ext cx="4553712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wget --spider "$received_url"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echo "URL opened with success"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echo "URL could not be opened"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exit 1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wget "$received_url" -O "$dir_download/$name"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E1A2B"/>
          </a:solidFill>
          <a:ln w="12700">
            <a:solidFill>
              <a:srgbClr val="0E1A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09441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Utilitare și comenzi (2/3): grep + sed + basename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ce fixed-string și de ce ștergere prin fișier temporar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097280"/>
            <a:ext cx="5806440" cy="5394960"/>
          </a:xfrm>
          <a:prstGeom prst="roundRect">
            <a:avLst/>
          </a:prstGeom>
          <a:solidFill>
            <a:srgbClr val="0F223A"/>
          </a:solidFill>
          <a:ln w="12700">
            <a:solidFill>
              <a:srgbClr val="203A5C"/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3258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grep (management stare)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1691640"/>
            <a:ext cx="5486400" cy="1002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9550" indent="-20955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-F (fixed strings): URL-urile conțin caractere speciale, deci evit regex</a:t>
            </a:r>
            <a:endParaRPr lang="en-US" sz="1500" dirty="0"/>
          </a:p>
          <a:p>
            <a:pPr marL="209550" indent="-20955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-x (whole line): potrivire exactă pe linie (fără match parțial)</a:t>
            </a:r>
            <a:endParaRPr lang="en-US" sz="1500" dirty="0"/>
          </a:p>
          <a:p>
            <a:pPr marL="209550" indent="-20955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-v (invert): reconstruiesc pending fără URL-ul evaluat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37033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sed (parsare simplă)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4069080"/>
            <a:ext cx="5486400" cy="7513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5580" indent="-19558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B8C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Curățare atribute href: elimină prefixul href=" și ghilimelele finale</a:t>
            </a:r>
            <a:endParaRPr lang="en-US" sz="1400" dirty="0"/>
          </a:p>
          <a:p>
            <a:pPr marL="195580" indent="-19558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B8C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Notă: sed nu se folosește pentru a șterge URL-uri brute din fișier ("/")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720840" y="1097280"/>
            <a:ext cx="4736592" cy="5394960"/>
          </a:xfrm>
          <a:prstGeom prst="roundRect">
            <a:avLst/>
          </a:prstGeom>
          <a:solidFill>
            <a:srgbClr val="102A46"/>
          </a:solidFill>
          <a:ln w="12700">
            <a:solidFill>
              <a:srgbClr val="203A5C"/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995160" y="132588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basename + Bash expansion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995160" y="1691640"/>
            <a:ext cx="4434840" cy="7513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5580" indent="-19558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basename: extrage ultimul segment din URL pentru numele fișierului</a:t>
            </a:r>
            <a:endParaRPr lang="en-US" sz="1400" dirty="0"/>
          </a:p>
          <a:p>
            <a:pPr marL="195580" indent="-19558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`${url%%[?#]*}`: elimină partea de query/fragment pentru naming local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995160" y="3246120"/>
            <a:ext cx="4462272" cy="3246120"/>
          </a:xfrm>
          <a:prstGeom prst="roundRect">
            <a:avLst/>
          </a:prstGeom>
          <a:solidFill>
            <a:srgbClr val="0A1627"/>
          </a:solidFill>
          <a:ln w="12700">
            <a:solidFill>
              <a:srgbClr val="203A5C"/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132625" y="3474720"/>
            <a:ext cx="4373575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 # nume fișier local (pentru salvare)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46 </a:t>
            </a:r>
            <a:r>
              <a:rPr lang="en-US" sz="1400" dirty="0">
                <a:solidFill>
                  <a:srgbClr val="00B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="$(basename -- "${received_url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%%[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\?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#]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*}")"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47 </a:t>
            </a:r>
            <a:r>
              <a:rPr lang="en-US" sz="1400" dirty="0">
                <a:solidFill>
                  <a:srgbClr val="703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-z "</a:t>
            </a:r>
            <a:r>
              <a:rPr lang="en-US" sz="1400" dirty="0">
                <a:solidFill>
                  <a:srgbClr val="00B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$name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]]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r>
              <a:rPr lang="en-US" sz="1400" dirty="0">
                <a:solidFill>
                  <a:srgbClr val="703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</a:t>
            </a:r>
          </a:p>
          <a:p>
            <a:r>
              <a:rPr lang="en-US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</a:t>
            </a:r>
            <a:r>
              <a:rPr lang="en-US" sz="1400" dirty="0">
                <a:solidFill>
                  <a:srgbClr val="00B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="index"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49 </a:t>
            </a:r>
            <a:r>
              <a:rPr lang="en-US" sz="1400" dirty="0" err="1">
                <a:solidFill>
                  <a:srgbClr val="703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</a:t>
            </a:r>
            <a:r>
              <a:rPr lang="en-US" sz="1400" dirty="0">
                <a:solidFill>
                  <a:srgbClr val="00B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$name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!= *.html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]]; </a:t>
            </a:r>
            <a:r>
              <a:rPr lang="en-US" sz="1400" dirty="0">
                <a:solidFill>
                  <a:srgbClr val="703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 	</a:t>
            </a:r>
            <a:r>
              <a:rPr lang="en-US" sz="1400" dirty="0">
                <a:solidFill>
                  <a:srgbClr val="00B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+=".html" 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51 </a:t>
            </a:r>
            <a:r>
              <a:rPr lang="en-US" sz="1400" dirty="0">
                <a:solidFill>
                  <a:srgbClr val="703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# remove pending (safe)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-</a:t>
            </a:r>
            <a:r>
              <a:rPr lang="en-US" sz="140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Fvx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"$</a:t>
            </a:r>
            <a:r>
              <a:rPr lang="en-US" sz="140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received_url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"$</a:t>
            </a:r>
            <a:r>
              <a:rPr lang="en-US" sz="140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pending_file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&gt; "$</a:t>
            </a:r>
            <a:r>
              <a:rPr lang="en-US" sz="140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pending_file.tmp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 "$</a:t>
            </a:r>
            <a:r>
              <a:rPr lang="en-US" sz="140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pending_file.tmp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"$</a:t>
            </a:r>
            <a:r>
              <a:rPr lang="en-US" sz="140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pending_file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E1A2B"/>
          </a:solidFill>
          <a:ln w="12700">
            <a:solidFill>
              <a:srgbClr val="0E1A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09441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Utilitare și comenzi (3/3): modelul de stare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Fișiere persistente pentru promisiuni: pending vs downloaded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097280"/>
            <a:ext cx="5440680" cy="5394960"/>
          </a:xfrm>
          <a:prstGeom prst="roundRect">
            <a:avLst/>
          </a:prstGeom>
          <a:solidFill>
            <a:srgbClr val="0F223A"/>
          </a:solidFill>
          <a:ln w="12700">
            <a:solidFill>
              <a:srgbClr val="203A5C"/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32588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Stare persistentă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1691640"/>
            <a:ext cx="5074920" cy="1002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9550" indent="-20955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`.lwget/pending.txt`: linkuri descoperite (promisiuni), încă nedescărcate</a:t>
            </a:r>
            <a:endParaRPr lang="en-US" sz="1500" dirty="0"/>
          </a:p>
          <a:p>
            <a:pPr marL="209550" indent="-20955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`.lwget/downloaded.txt`: linkuri deja evaluate (descărcate)</a:t>
            </a:r>
            <a:endParaRPr lang="en-US" sz="1500" dirty="0"/>
          </a:p>
          <a:p>
            <a:pPr marL="209550" indent="-20955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Deduplicare: nu se adaugă aceeași linie de două ori (grep -Fqx)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60120" y="4343400"/>
            <a:ext cx="4443984" cy="310896"/>
          </a:xfrm>
          <a:prstGeom prst="roundRect">
            <a:avLst/>
          </a:prstGeom>
          <a:solidFill>
            <a:srgbClr val="0B244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24712" y="4407408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ce fișier temporar?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4681728"/>
            <a:ext cx="5074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C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Scrierea directă peste același fișier poate trunchia conținutul înainte de citire. De aceea se scrie în tmp și apoi se face mv.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1097280"/>
            <a:ext cx="5102352" cy="5394960"/>
          </a:xfrm>
          <a:prstGeom prst="roundRect">
            <a:avLst/>
          </a:prstGeom>
          <a:solidFill>
            <a:srgbClr val="102A46"/>
          </a:solidFill>
          <a:ln w="12700">
            <a:solidFill>
              <a:srgbClr val="203A5C"/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675120" y="1325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Diagramă: un URL trece prin stări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903720" y="1965960"/>
            <a:ext cx="4526280" cy="822960"/>
          </a:xfrm>
          <a:prstGeom prst="roundRect">
            <a:avLst/>
          </a:prstGeom>
          <a:solidFill>
            <a:srgbClr val="071427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0" y="2185416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PENDING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961120" y="2926080"/>
            <a:ext cx="411480" cy="548640"/>
          </a:xfrm>
          <a:prstGeom prst="downArrow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03720" y="3447288"/>
            <a:ext cx="4526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C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lwget &lt;URL&gt;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903720" y="3749040"/>
            <a:ext cx="4526280" cy="822960"/>
          </a:xfrm>
          <a:prstGeom prst="roundRect">
            <a:avLst/>
          </a:prstGeom>
          <a:solidFill>
            <a:srgbClr val="07142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3968496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DOWNLOADED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675120" y="5120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C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După download: parse → descoperă linkuri noi și le adaugă în pending.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E1A2B"/>
          </a:solidFill>
          <a:ln w="12700">
            <a:solidFill>
              <a:srgbClr val="0E1A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09441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 (1/4): fluxul principal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la input la stare și extragere linkuri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084028"/>
            <a:ext cx="5806440" cy="5394960"/>
          </a:xfrm>
          <a:prstGeom prst="roundRect">
            <a:avLst/>
          </a:prstGeom>
          <a:solidFill>
            <a:srgbClr val="0F223A"/>
          </a:solidFill>
          <a:ln w="12700">
            <a:solidFill>
              <a:srgbClr val="203A5C"/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3258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 (high-level)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1731396"/>
            <a:ext cx="5486400" cy="14218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9550" indent="-20955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Validez input + creez directorul de download</a:t>
            </a:r>
            <a:endParaRPr lang="en-US" sz="1500" dirty="0"/>
          </a:p>
          <a:p>
            <a:pPr marL="209550" indent="-20955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wget --spider (fail-fast)</a:t>
            </a:r>
            <a:endParaRPr lang="en-US" sz="1500" dirty="0"/>
          </a:p>
          <a:p>
            <a:pPr marL="209550" indent="-20955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Derivez numele fișierului local și descarc HTML-ul cu -O</a:t>
            </a:r>
            <a:endParaRPr lang="en-US" sz="1500" dirty="0"/>
          </a:p>
          <a:p>
            <a:pPr marL="209550" indent="-20955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Actualizez stare: pending/downloaded</a:t>
            </a:r>
            <a:endParaRPr lang="en-US" sz="1500" dirty="0"/>
          </a:p>
          <a:p>
            <a:pPr marL="209550" indent="-20955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Parsez HTML-ul și completez lista de promisiuni (pending)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720840" y="1097280"/>
            <a:ext cx="4736592" cy="5394960"/>
          </a:xfrm>
          <a:prstGeom prst="roundRect">
            <a:avLst/>
          </a:prstGeom>
          <a:solidFill>
            <a:srgbClr val="0A1627"/>
          </a:solidFill>
          <a:ln w="12700">
            <a:solidFill>
              <a:srgbClr val="203A5C"/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995160" y="1325880"/>
            <a:ext cx="4187952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received_url=$1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-z "$received_url"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]]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&amp;&amp; exit 1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-p "$dir_download"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wget --spider "$received_url" || exit 1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name="$(basename -- "${received_url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%%[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\?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#]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*}")"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-z "$name"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]]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&amp;&amp; name="index"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"$name" != *.html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]]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&amp;&amp; name+=".html"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wget "$received_url" -O "$dir_download/$name"</a:t>
            </a:r>
            <a:endParaRPr lang="en-US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046A41-5951-2EA8-8E60-171BF4F045D6}"/>
              </a:ext>
            </a:extLst>
          </p:cNvPr>
          <p:cNvSpPr txBox="1"/>
          <p:nvPr/>
        </p:nvSpPr>
        <p:spPr>
          <a:xfrm>
            <a:off x="960120" y="3197222"/>
            <a:ext cx="6102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FFFFFF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Exemplu</a:t>
            </a:r>
            <a:r>
              <a:rPr lang="en-US" b="1" dirty="0">
                <a:solidFill>
                  <a:srgbClr val="FFFFFF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:</a:t>
            </a:r>
            <a:endParaRPr lang="ro-RO" b="1" dirty="0">
              <a:latin typeface="Consolas" panose="020B060902020403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D7489E-198F-A639-EB2E-C3FDDC84C2EA}"/>
              </a:ext>
            </a:extLst>
          </p:cNvPr>
          <p:cNvSpPr txBox="1"/>
          <p:nvPr/>
        </p:nvSpPr>
        <p:spPr>
          <a:xfrm>
            <a:off x="960120" y="3535776"/>
            <a:ext cx="5626210" cy="2858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9550" indent="-20955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EAF2FF"/>
                </a:solidFill>
                <a:latin typeface="Aptos" pitchFamily="34" charset="0"/>
                <a:hlinkClick r:id="rId3"/>
              </a:rPr>
              <a:t>https://www.v-labs.com/experience/</a:t>
            </a:r>
            <a:endParaRPr lang="en-US" dirty="0">
              <a:solidFill>
                <a:srgbClr val="EAF2FF"/>
              </a:solidFill>
              <a:latin typeface="Aptos" pitchFamily="34" charset="0"/>
            </a:endParaRPr>
          </a:p>
          <a:p>
            <a:pPr>
              <a:lnSpc>
                <a:spcPct val="110000"/>
              </a:lnSpc>
              <a:spcAft>
                <a:spcPts val="400"/>
              </a:spcAft>
              <a:buSzPct val="100000"/>
            </a:pPr>
            <a:r>
              <a:rPr lang="en-US" sz="1800" dirty="0">
                <a:solidFill>
                  <a:srgbClr val="EAF2FF"/>
                </a:solidFill>
                <a:latin typeface="Aptos" pitchFamily="34" charset="0"/>
              </a:rPr>
              <a:t>                                         </a:t>
            </a:r>
          </a:p>
          <a:p>
            <a:pPr>
              <a:lnSpc>
                <a:spcPct val="110000"/>
              </a:lnSpc>
              <a:spcAft>
                <a:spcPts val="400"/>
              </a:spcAft>
              <a:buSzPct val="100000"/>
            </a:pPr>
            <a:r>
              <a:rPr lang="en-US" dirty="0">
                <a:solidFill>
                  <a:srgbClr val="EAF2FF"/>
                </a:solidFill>
                <a:latin typeface="Aptos" pitchFamily="34" charset="0"/>
              </a:rPr>
              <a:t>          		</a:t>
            </a:r>
            <a:r>
              <a:rPr lang="en-US" sz="1800" dirty="0">
                <a:solidFill>
                  <a:srgbClr val="7030A0"/>
                </a:solidFill>
                <a:latin typeface="Aptos" pitchFamily="34" charset="0"/>
              </a:rPr>
              <a:t>name =</a:t>
            </a:r>
            <a:r>
              <a:rPr lang="en-US" sz="1800" dirty="0">
                <a:solidFill>
                  <a:srgbClr val="EAF2FF"/>
                </a:solidFill>
                <a:latin typeface="Aptos" pitchFamily="34" charset="0"/>
              </a:rPr>
              <a:t> </a:t>
            </a:r>
            <a:r>
              <a:rPr lang="en-US" sz="1800" dirty="0">
                <a:solidFill>
                  <a:srgbClr val="C00000"/>
                </a:solidFill>
                <a:latin typeface="Aptos" pitchFamily="34" charset="0"/>
              </a:rPr>
              <a:t>experience</a:t>
            </a:r>
            <a:r>
              <a:rPr lang="en-US" sz="1800" dirty="0">
                <a:solidFill>
                  <a:srgbClr val="7030A0"/>
                </a:solidFill>
                <a:latin typeface="Aptos" pitchFamily="34" charset="0"/>
              </a:rPr>
              <a:t> + .html</a:t>
            </a:r>
          </a:p>
          <a:p>
            <a:pPr>
              <a:lnSpc>
                <a:spcPct val="110000"/>
              </a:lnSpc>
              <a:spcAft>
                <a:spcPts val="400"/>
              </a:spcAft>
              <a:buSzPct val="100000"/>
            </a:pPr>
            <a:r>
              <a:rPr lang="en-US" dirty="0">
                <a:solidFill>
                  <a:srgbClr val="7030A0"/>
                </a:solidFill>
                <a:latin typeface="Aptos" pitchFamily="34" charset="0"/>
              </a:rPr>
              <a:t>Implicit, file-ul </a:t>
            </a:r>
            <a:r>
              <a:rPr lang="en-US" dirty="0" err="1">
                <a:solidFill>
                  <a:srgbClr val="7030A0"/>
                </a:solidFill>
                <a:latin typeface="Aptos" pitchFamily="34" charset="0"/>
              </a:rPr>
              <a:t>descarcat</a:t>
            </a:r>
            <a:r>
              <a:rPr lang="en-US" dirty="0">
                <a:solidFill>
                  <a:srgbClr val="7030A0"/>
                </a:solidFill>
                <a:latin typeface="Aptos" pitchFamily="34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Aptos" pitchFamily="34" charset="0"/>
              </a:rPr>
              <a:t>devine</a:t>
            </a:r>
            <a:r>
              <a:rPr lang="en-US" dirty="0">
                <a:solidFill>
                  <a:srgbClr val="7030A0"/>
                </a:solidFill>
                <a:latin typeface="Aptos" pitchFamily="34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Aptos" pitchFamily="34" charset="0"/>
              </a:rPr>
              <a:t>name.html</a:t>
            </a:r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70C0"/>
                </a:solidFill>
                <a:latin typeface="Aptos" pitchFamily="34" charset="0"/>
              </a:rPr>
              <a:t>De </a:t>
            </a:r>
            <a:r>
              <a:rPr lang="en-US" sz="2000" dirty="0" err="1">
                <a:solidFill>
                  <a:srgbClr val="0070C0"/>
                </a:solidFill>
                <a:latin typeface="Aptos" pitchFamily="34" charset="0"/>
              </a:rPr>
              <a:t>ce</a:t>
            </a:r>
            <a:r>
              <a:rPr lang="en-US" sz="2000" dirty="0">
                <a:solidFill>
                  <a:srgbClr val="0070C0"/>
                </a:solidFill>
                <a:latin typeface="Aptos" pitchFamily="34" charset="0"/>
              </a:rPr>
              <a:t> </a:t>
            </a:r>
            <a:r>
              <a:rPr lang="en-US" sz="2000" dirty="0" err="1">
                <a:solidFill>
                  <a:srgbClr val="7030A0"/>
                </a:solidFill>
                <a:latin typeface="Aptos" pitchFamily="34" charset="0"/>
              </a:rPr>
              <a:t>basename</a:t>
            </a:r>
            <a:r>
              <a:rPr lang="en-US" sz="2000" dirty="0">
                <a:solidFill>
                  <a:srgbClr val="0070C0"/>
                </a:solidFill>
                <a:latin typeface="Aptos" pitchFamily="34" charset="0"/>
              </a:rPr>
              <a:t> </a:t>
            </a:r>
            <a:r>
              <a:rPr lang="en-US" sz="2000" dirty="0" err="1">
                <a:solidFill>
                  <a:srgbClr val="0070C0"/>
                </a:solidFill>
                <a:latin typeface="Aptos" pitchFamily="34" charset="0"/>
              </a:rPr>
              <a:t>peste</a:t>
            </a:r>
            <a:r>
              <a:rPr lang="en-US" dirty="0">
                <a:solidFill>
                  <a:srgbClr val="C00000"/>
                </a:solidFill>
                <a:latin typeface="Aptos" pitchFamily="34" charset="0"/>
              </a:rPr>
              <a:t> </a:t>
            </a:r>
            <a:r>
              <a:rPr lang="en-US" sz="2000" strike="sngStrike" dirty="0">
                <a:solidFill>
                  <a:srgbClr val="C00000"/>
                </a:solidFill>
                <a:latin typeface="Aptos" pitchFamily="34" charset="0"/>
              </a:rPr>
              <a:t>sed</a:t>
            </a:r>
            <a:r>
              <a:rPr lang="en-US" sz="2000" dirty="0">
                <a:solidFill>
                  <a:srgbClr val="C00000"/>
                </a:solidFill>
                <a:latin typeface="Aptos" pitchFamily="34" charset="0"/>
              </a:rPr>
              <a:t>?</a:t>
            </a:r>
          </a:p>
          <a:p>
            <a:pPr>
              <a:lnSpc>
                <a:spcPct val="110000"/>
              </a:lnSpc>
              <a:spcAft>
                <a:spcPts val="400"/>
              </a:spcAft>
              <a:buSzPct val="100000"/>
            </a:pPr>
            <a:r>
              <a:rPr lang="ro-RO" dirty="0">
                <a:solidFill>
                  <a:schemeClr val="accent3">
                    <a:lumMod val="50000"/>
                  </a:schemeClr>
                </a:solidFill>
                <a:latin typeface="Aptos" panose="020B0004020202020204" pitchFamily="34" charset="0"/>
              </a:rPr>
              <a:t>sed "/$received_url/d" e periculos</a:t>
            </a:r>
            <a:endParaRPr lang="en-US" dirty="0">
              <a:solidFill>
                <a:schemeClr val="accent3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pPr>
              <a:lnSpc>
                <a:spcPct val="110000"/>
              </a:lnSpc>
              <a:spcAft>
                <a:spcPts val="400"/>
              </a:spcAft>
              <a:buSzPct val="100000"/>
            </a:pPr>
            <a:r>
              <a:rPr lang="ro-RO" dirty="0">
                <a:solidFill>
                  <a:srgbClr val="0070C0"/>
                </a:solidFill>
              </a:rPr>
              <a:t>URL-ul poate conține / care </a:t>
            </a:r>
            <a:r>
              <a:rPr lang="ro-RO" dirty="0">
                <a:solidFill>
                  <a:srgbClr val="C00000"/>
                </a:solidFill>
              </a:rPr>
              <a:t>“sparge”</a:t>
            </a:r>
            <a:r>
              <a:rPr lang="ro-RO" dirty="0">
                <a:solidFill>
                  <a:srgbClr val="0070C0"/>
                </a:solidFill>
              </a:rPr>
              <a:t> delimitatorul </a:t>
            </a:r>
            <a:r>
              <a:rPr lang="ro-RO" strike="sngStrike" dirty="0">
                <a:solidFill>
                  <a:srgbClr val="C00000"/>
                </a:solidFill>
              </a:rPr>
              <a:t>sed</a:t>
            </a:r>
            <a:r>
              <a:rPr lang="ro-RO" dirty="0">
                <a:solidFill>
                  <a:srgbClr val="0070C0"/>
                </a:solidFill>
              </a:rPr>
              <a:t>, plus caractere regex.</a:t>
            </a:r>
            <a:endParaRPr lang="en-US" sz="1800" dirty="0">
              <a:solidFill>
                <a:srgbClr val="0070C0"/>
              </a:solidFill>
              <a:latin typeface="Aptos" panose="020B00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2AE19E-9FB6-40E1-338E-C8A57A337CE0}"/>
              </a:ext>
            </a:extLst>
          </p:cNvPr>
          <p:cNvSpPr txBox="1"/>
          <p:nvPr/>
        </p:nvSpPr>
        <p:spPr>
          <a:xfrm rot="5400000">
            <a:off x="3938073" y="3501924"/>
            <a:ext cx="73776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solidFill>
                  <a:schemeClr val="bg1"/>
                </a:solidFill>
              </a:rPr>
              <a:t>}</a:t>
            </a:r>
            <a:endParaRPr lang="ro-RO" sz="8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E1A2B"/>
          </a:solidFill>
          <a:ln w="12700">
            <a:solidFill>
              <a:srgbClr val="0E1A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09441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 (2/4): evaluarea promisiunilor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Mutarea din pending în downloaded și deduplicare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097280"/>
            <a:ext cx="5806440" cy="5394960"/>
          </a:xfrm>
          <a:prstGeom prst="roundRect">
            <a:avLst/>
          </a:prstGeom>
          <a:solidFill>
            <a:srgbClr val="0F223A"/>
          </a:solidFill>
          <a:ln w="12700">
            <a:solidFill>
              <a:srgbClr val="203A5C"/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3258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1691640"/>
            <a:ext cx="5486400" cy="23900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9550" indent="-20955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Dacă URL-ul este în pending: îl elimin și îl adaug în downloaded</a:t>
            </a:r>
            <a:endParaRPr lang="en-US" sz="1500" dirty="0"/>
          </a:p>
          <a:p>
            <a:pPr marL="209550" indent="-20955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Dacă URL-ul este deja în downloaded: nu fac nimic (evit duplicate)</a:t>
            </a:r>
            <a:endParaRPr lang="en-US" sz="1500" dirty="0"/>
          </a:p>
          <a:p>
            <a:pPr marL="209550" indent="-20955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Ștergerea din pending se face sigur: grep -Fvx → tmp → mv</a:t>
            </a:r>
          </a:p>
          <a:p>
            <a:pPr marL="209550" indent="-20955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endParaRPr lang="en-US" sz="1500" dirty="0">
              <a:latin typeface="Aptos" panose="020B0004020202020204" pitchFamily="34" charset="0"/>
            </a:endParaRPr>
          </a:p>
          <a:p>
            <a:pPr marL="209550" indent="-20955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endParaRPr lang="en-US" sz="1500" dirty="0">
              <a:latin typeface="Aptos" panose="020B0004020202020204" pitchFamily="34" charset="0"/>
            </a:endParaRPr>
          </a:p>
          <a:p>
            <a:pPr marL="209550" indent="-20955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b="1" dirty="0" err="1">
                <a:solidFill>
                  <a:srgbClr val="C00000"/>
                </a:solidFill>
                <a:latin typeface="Aptos" panose="020B0004020202020204" pitchFamily="34" charset="0"/>
              </a:rPr>
              <a:t>Obs</a:t>
            </a:r>
            <a:r>
              <a:rPr lang="en-US" b="1" dirty="0">
                <a:solidFill>
                  <a:srgbClr val="C00000"/>
                </a:solidFill>
                <a:latin typeface="Aptos" panose="020B0004020202020204" pitchFamily="34" charset="0"/>
              </a:rPr>
              <a:t>:</a:t>
            </a:r>
            <a:r>
              <a:rPr lang="en-US" sz="1500" dirty="0">
                <a:solidFill>
                  <a:srgbClr val="C00000"/>
                </a:solidFill>
                <a:latin typeface="Aptos" panose="020B0004020202020204" pitchFamily="34" charset="0"/>
              </a:rPr>
              <a:t> </a:t>
            </a:r>
            <a:r>
              <a:rPr lang="en-US" sz="1500" dirty="0" err="1">
                <a:solidFill>
                  <a:schemeClr val="accent1"/>
                </a:solidFill>
                <a:latin typeface="Aptos" panose="020B0004020202020204" pitchFamily="34" charset="0"/>
              </a:rPr>
              <a:t>toate</a:t>
            </a:r>
            <a:r>
              <a:rPr lang="en-US" sz="1500" dirty="0">
                <a:solidFill>
                  <a:schemeClr val="accent1"/>
                </a:solidFill>
                <a:latin typeface="Aptos" panose="020B0004020202020204" pitchFamily="34" charset="0"/>
              </a:rPr>
              <a:t> </a:t>
            </a:r>
            <a:r>
              <a:rPr lang="en-US" sz="1500" dirty="0" err="1">
                <a:solidFill>
                  <a:schemeClr val="accent1"/>
                </a:solidFill>
                <a:latin typeface="Aptos" panose="020B0004020202020204" pitchFamily="34" charset="0"/>
              </a:rPr>
              <a:t>aceste</a:t>
            </a:r>
            <a:r>
              <a:rPr lang="en-US" sz="1500" dirty="0">
                <a:solidFill>
                  <a:schemeClr val="accent1"/>
                </a:solidFill>
                <a:latin typeface="Aptos" panose="020B0004020202020204" pitchFamily="34" charset="0"/>
              </a:rPr>
              <a:t> procedure </a:t>
            </a:r>
            <a:r>
              <a:rPr lang="en-US" sz="1500" dirty="0" err="1">
                <a:solidFill>
                  <a:schemeClr val="accent1"/>
                </a:solidFill>
                <a:latin typeface="Aptos" panose="020B0004020202020204" pitchFamily="34" charset="0"/>
              </a:rPr>
              <a:t>si</a:t>
            </a:r>
            <a:r>
              <a:rPr lang="en-US" sz="1500" dirty="0">
                <a:solidFill>
                  <a:schemeClr val="accent1"/>
                </a:solidFill>
                <a:latin typeface="Aptos" panose="020B0004020202020204" pitchFamily="34" charset="0"/>
              </a:rPr>
              <a:t> if-</a:t>
            </a:r>
            <a:r>
              <a:rPr lang="en-US" sz="1500" dirty="0" err="1">
                <a:solidFill>
                  <a:schemeClr val="accent1"/>
                </a:solidFill>
                <a:latin typeface="Aptos" panose="020B0004020202020204" pitchFamily="34" charset="0"/>
              </a:rPr>
              <a:t>uri</a:t>
            </a:r>
            <a:r>
              <a:rPr lang="en-US" sz="1500" dirty="0">
                <a:solidFill>
                  <a:schemeClr val="accent1"/>
                </a:solidFill>
                <a:latin typeface="Aptos" panose="020B0004020202020204" pitchFamily="34" charset="0"/>
              </a:rPr>
              <a:t> </a:t>
            </a:r>
            <a:r>
              <a:rPr lang="en-US" sz="1600" b="1" u="sng" dirty="0">
                <a:solidFill>
                  <a:srgbClr val="C00000"/>
                </a:solidFill>
                <a:latin typeface="Aptos" panose="020B0004020202020204" pitchFamily="34" charset="0"/>
              </a:rPr>
              <a:t>NU</a:t>
            </a:r>
            <a:r>
              <a:rPr lang="en-US" sz="1500" dirty="0">
                <a:solidFill>
                  <a:schemeClr val="accent1"/>
                </a:solidFill>
                <a:latin typeface="Aptos" panose="020B0004020202020204" pitchFamily="34" charset="0"/>
              </a:rPr>
              <a:t> </a:t>
            </a:r>
            <a:r>
              <a:rPr lang="en-US" sz="1500" dirty="0" err="1">
                <a:solidFill>
                  <a:schemeClr val="accent1"/>
                </a:solidFill>
                <a:latin typeface="Aptos" panose="020B0004020202020204" pitchFamily="34" charset="0"/>
              </a:rPr>
              <a:t>produc</a:t>
            </a:r>
            <a:r>
              <a:rPr lang="en-US" sz="1500" dirty="0">
                <a:solidFill>
                  <a:schemeClr val="accent1"/>
                </a:solidFill>
                <a:latin typeface="Aptos" panose="020B0004020202020204" pitchFamily="34" charset="0"/>
              </a:rPr>
              <a:t> </a:t>
            </a:r>
            <a:r>
              <a:rPr lang="en-US" sz="1500" dirty="0" err="1">
                <a:solidFill>
                  <a:schemeClr val="accent1"/>
                </a:solidFill>
                <a:latin typeface="Aptos" panose="020B0004020202020204" pitchFamily="34" charset="0"/>
              </a:rPr>
              <a:t>dubluri</a:t>
            </a:r>
            <a:r>
              <a:rPr lang="en-US" sz="1500" dirty="0">
                <a:solidFill>
                  <a:schemeClr val="accent1"/>
                </a:solidFill>
                <a:latin typeface="Aptos" panose="020B0004020202020204" pitchFamily="34" charset="0"/>
              </a:rPr>
              <a:t> </a:t>
            </a:r>
            <a:r>
              <a:rPr lang="en-US" sz="1500" dirty="0" err="1">
                <a:solidFill>
                  <a:schemeClr val="accent1"/>
                </a:solidFill>
                <a:latin typeface="Aptos" panose="020B0004020202020204" pitchFamily="34" charset="0"/>
              </a:rPr>
              <a:t>atat</a:t>
            </a:r>
            <a:r>
              <a:rPr lang="en-US" sz="1500" dirty="0">
                <a:solidFill>
                  <a:schemeClr val="accent1"/>
                </a:solidFill>
                <a:latin typeface="Aptos" panose="020B0004020202020204" pitchFamily="34" charset="0"/>
              </a:rPr>
              <a:t> in </a:t>
            </a:r>
            <a:r>
              <a:rPr lang="en-US" sz="1500" dirty="0">
                <a:solidFill>
                  <a:srgbClr val="7030A0"/>
                </a:solidFill>
                <a:latin typeface="Aptos" panose="020B0004020202020204" pitchFamily="34" charset="0"/>
              </a:rPr>
              <a:t>downloaded</a:t>
            </a:r>
            <a:r>
              <a:rPr lang="en-US" sz="1500" dirty="0">
                <a:solidFill>
                  <a:schemeClr val="accent1"/>
                </a:solidFill>
                <a:latin typeface="Aptos" panose="020B0004020202020204" pitchFamily="34" charset="0"/>
              </a:rPr>
              <a:t> cat nici in </a:t>
            </a:r>
            <a:r>
              <a:rPr lang="en-US" sz="1500" dirty="0">
                <a:solidFill>
                  <a:srgbClr val="7030A0"/>
                </a:solidFill>
                <a:latin typeface="Aptos" panose="020B0004020202020204" pitchFamily="34" charset="0"/>
              </a:rPr>
              <a:t>pending</a:t>
            </a:r>
            <a:r>
              <a:rPr lang="en-US" sz="1500" dirty="0">
                <a:solidFill>
                  <a:schemeClr val="accent1"/>
                </a:solidFill>
                <a:latin typeface="Aptos" panose="020B0004020202020204" pitchFamily="34" charset="0"/>
              </a:rPr>
              <a:t>.</a:t>
            </a:r>
            <a:endParaRPr lang="en-US" sz="1500" dirty="0">
              <a:solidFill>
                <a:srgbClr val="C00000"/>
              </a:solidFill>
              <a:latin typeface="Aptos" panose="020B00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720840" y="1097280"/>
            <a:ext cx="4736592" cy="5394960"/>
          </a:xfrm>
          <a:prstGeom prst="roundRect">
            <a:avLst/>
          </a:prstGeom>
          <a:solidFill>
            <a:srgbClr val="0A1627"/>
          </a:solidFill>
          <a:ln w="12700">
            <a:solidFill>
              <a:srgbClr val="203A5C"/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995160" y="1325880"/>
            <a:ext cx="4187952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grep -Fqx "$received_url" "$pending_file"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grep -Fvx "$received_url" "$pending_file" &gt; "$pending_file.tmp"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mv "$pending_file.tmp" "$pending_file"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! grep -Fqx "$received_url" "$downloaded_file"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echo "$received_url" &gt;&gt; "$downloaded_file"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grep -Fqx "$received_url" "$downloaded_file"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already downloaded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echo "$received_url" &gt;&gt; "$downloaded_file"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E1A2B"/>
          </a:solidFill>
          <a:ln w="12700">
            <a:solidFill>
              <a:srgbClr val="0E1A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09441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 (3/4): parsarea HTML și popularea pending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Extrage href="..." (absolute) și evită duplicate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097280"/>
            <a:ext cx="5806440" cy="5394960"/>
          </a:xfrm>
          <a:prstGeom prst="roundRect">
            <a:avLst/>
          </a:prstGeom>
          <a:solidFill>
            <a:srgbClr val="0F223A"/>
          </a:solidFill>
          <a:ln w="12700">
            <a:solidFill>
              <a:srgbClr val="203A5C"/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3258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Parsare (simplificată)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1691640"/>
            <a:ext cx="5486400" cy="1002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9550" indent="-20955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Caut atribute href="..." în HTML-ul descărcat local</a:t>
            </a:r>
            <a:endParaRPr lang="en-US" sz="1500" dirty="0"/>
          </a:p>
          <a:p>
            <a:pPr marL="209550" indent="-20955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Păstrez doar linkuri absolute care încep cu http/https</a:t>
            </a:r>
            <a:endParaRPr lang="en-US" sz="1500" dirty="0"/>
          </a:p>
          <a:p>
            <a:pPr marL="209550" indent="-20955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Adaug în pending doar dacă nu există deja în pending sau downloaded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60120" y="4526280"/>
            <a:ext cx="3785616" cy="310896"/>
          </a:xfrm>
          <a:prstGeom prst="roundRect">
            <a:avLst/>
          </a:prstGeom>
          <a:solidFill>
            <a:srgbClr val="0B244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24712" y="4590288"/>
            <a:ext cx="34564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Limitare declarată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4864608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C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În această versiune: urmăresc doar linkuri absolute din href cu ghilimele duble. Linkuri relative nu sunt rezolvate.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720840" y="1097280"/>
            <a:ext cx="4736592" cy="5394960"/>
          </a:xfrm>
          <a:prstGeom prst="roundRect">
            <a:avLst/>
          </a:prstGeom>
          <a:solidFill>
            <a:srgbClr val="0A1627"/>
          </a:solidFill>
          <a:ln w="12700">
            <a:solidFill>
              <a:srgbClr val="203A5C"/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995160" y="1325880"/>
            <a:ext cx="4187952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-Ei -o "href="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^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+"" "$dir_download/$name" |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sed "s/href="//i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s/"//" |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read -r found_link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"$found_link" =~ ^http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]];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grep -Fqx "$found_link" "$downloaded_file" ||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grep -Fqx "$found_link" "$pending_file"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echo "$found_link" &gt;&gt; "$pending_file"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E1A2B"/>
          </a:solidFill>
          <a:ln w="12700">
            <a:solidFill>
              <a:srgbClr val="0E1A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09441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 (4/4): cazuri limită și alegeri tehnice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Cum am evitat erori tipice în shell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097280"/>
            <a:ext cx="5806440" cy="5394960"/>
          </a:xfrm>
          <a:prstGeom prst="roundRect">
            <a:avLst/>
          </a:prstGeom>
          <a:solidFill>
            <a:srgbClr val="0F223A"/>
          </a:solidFill>
          <a:ln w="12700">
            <a:solidFill>
              <a:srgbClr val="203A5C"/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3258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Cazuri limită tratate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1691640"/>
            <a:ext cx="5486400" cy="14218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9550" indent="-20955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URL invalid: stop imediat după wget --spider</a:t>
            </a:r>
            <a:endParaRPr lang="en-US" sz="1500" dirty="0"/>
          </a:p>
          <a:p>
            <a:pPr marL="209550" indent="-20955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URL-uri cu caractere speciale: folosesc grep -F (nu regex)</a:t>
            </a:r>
            <a:endParaRPr lang="en-US" sz="1500" dirty="0"/>
          </a:p>
          <a:p>
            <a:pPr marL="209550" indent="-20955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Ștergere din pending fără sed pe URL brut: tmp + mv</a:t>
            </a:r>
            <a:endParaRPr lang="en-US" sz="1500" dirty="0"/>
          </a:p>
          <a:p>
            <a:pPr marL="209550" indent="-20955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Evit duplicate în pending/downloaded: grep -Fqx înainte de append</a:t>
            </a:r>
            <a:endParaRPr lang="en-US" sz="1500" dirty="0"/>
          </a:p>
          <a:p>
            <a:pPr marL="209550" indent="-20955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URL care se termină cu “/”: nume local index.html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720840" y="1097280"/>
            <a:ext cx="4736592" cy="5394960"/>
          </a:xfrm>
          <a:prstGeom prst="roundRect">
            <a:avLst/>
          </a:prstGeom>
          <a:solidFill>
            <a:srgbClr val="102A46"/>
          </a:solidFill>
          <a:ln w="12700">
            <a:solidFill>
              <a:srgbClr val="203A5C"/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995160" y="132588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Motive pentru alegeri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995160" y="1691640"/>
            <a:ext cx="4434840" cy="946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5580" indent="-19558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B8C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 preferat unelte standard (wget/grep/sed) pentru portabilitate pe Linux</a:t>
            </a:r>
            <a:endParaRPr lang="en-US" sz="1400" dirty="0"/>
          </a:p>
          <a:p>
            <a:pPr marL="195580" indent="-19558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B8C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Parsarea HTML completă în shell e dificilă, deci am declarat limitări</a:t>
            </a:r>
            <a:endParaRPr lang="en-US" sz="1400" dirty="0"/>
          </a:p>
          <a:p>
            <a:pPr marL="195580" indent="-19558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B8C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Modelul pending/downloaded face comportamentul “lazy” ușor de demonstrat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E1A2B"/>
          </a:solidFill>
          <a:ln w="12700">
            <a:solidFill>
              <a:srgbClr val="0E1A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09441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Concluzii și contribuții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Rezultate și ce aș îmbunătăți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097280"/>
            <a:ext cx="5806440" cy="5394960"/>
          </a:xfrm>
          <a:prstGeom prst="roundRect">
            <a:avLst/>
          </a:prstGeom>
          <a:solidFill>
            <a:srgbClr val="0F223A"/>
          </a:solidFill>
          <a:ln w="12700">
            <a:solidFill>
              <a:srgbClr val="203A5C"/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3258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Concluzii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1691640"/>
            <a:ext cx="5486400" cy="1002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9550" indent="-20955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lwget implementează descărcare “lazy”: 1 HTML per apel + promisiuni persistente</a:t>
            </a:r>
            <a:endParaRPr lang="en-US" sz="1500" dirty="0"/>
          </a:p>
          <a:p>
            <a:pPr marL="209550" indent="-20955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Starea pending/downloaded face ușoară reluarea și demonstrarea comportamentului</a:t>
            </a:r>
            <a:endParaRPr lang="en-US" sz="1500" dirty="0"/>
          </a:p>
          <a:p>
            <a:pPr marL="209550" indent="-20955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Scriptul rulează fără dependențe non-standard (bază: bash, wget, grep, sed)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720840" y="1097280"/>
            <a:ext cx="4736592" cy="5394960"/>
          </a:xfrm>
          <a:prstGeom prst="roundRect">
            <a:avLst/>
          </a:prstGeom>
          <a:solidFill>
            <a:srgbClr val="102A46"/>
          </a:solidFill>
          <a:ln w="12700">
            <a:solidFill>
              <a:srgbClr val="203A5C"/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995160" y="132588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Contribuții (individual)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995160" y="1691640"/>
            <a:ext cx="4434840" cy="11424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5580" indent="-19558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Arhitectură: model de stări + fișiere persistente</a:t>
            </a:r>
            <a:endParaRPr lang="en-US" sz="1400" dirty="0"/>
          </a:p>
          <a:p>
            <a:pPr marL="195580" indent="-19558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Implementare: validare URL, download, deduplicare, parsare</a:t>
            </a:r>
            <a:endParaRPr lang="en-US" sz="1400" dirty="0"/>
          </a:p>
          <a:p>
            <a:pPr marL="195580" indent="-19558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Depanare: ShellCheck, tratare URL-uri cu caractere speciale</a:t>
            </a:r>
            <a:endParaRPr lang="en-US" sz="1400" dirty="0"/>
          </a:p>
          <a:p>
            <a:pPr marL="195580" indent="-19558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Documentație: README + structură repo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995160" y="5257800"/>
            <a:ext cx="4279392" cy="310896"/>
          </a:xfrm>
          <a:prstGeom prst="roundRect">
            <a:avLst/>
          </a:prstGeom>
          <a:solidFill>
            <a:srgbClr val="0B2440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59752" y="5321808"/>
            <a:ext cx="3950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Posibile îmbunătățiri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995160" y="5596128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8C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Suport pentru linkuri relative (rezolvare cu --base), parsare HTML cu un parser dedicat, suite de teste automatizate.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E1A2B"/>
          </a:solidFill>
          <a:ln w="12700">
            <a:solidFill>
              <a:srgbClr val="0E1A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09441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Rulare + edge-case-uri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scurt: pending vs downloaded + ce am testat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097280"/>
            <a:ext cx="6035040" cy="5394960"/>
          </a:xfrm>
          <a:prstGeom prst="roundRect">
            <a:avLst/>
          </a:prstGeom>
          <a:solidFill>
            <a:srgbClr val="0F223A"/>
          </a:solidFill>
          <a:ln w="12700">
            <a:solidFill>
              <a:srgbClr val="203A5C"/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3258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(terminal)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1737360"/>
            <a:ext cx="5669280" cy="3703320"/>
          </a:xfrm>
          <a:prstGeom prst="roundRect">
            <a:avLst/>
          </a:prstGeom>
          <a:solidFill>
            <a:srgbClr val="0A1627"/>
          </a:solidFill>
          <a:ln w="12700">
            <a:solidFill>
              <a:srgbClr val="203A5C"/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143000" y="1965960"/>
            <a:ext cx="512064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# 1) Evaluez pagina A (descarc doar A)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./LazyWGET.sh "https://site/A.html"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# pending.txt: B.html, C.html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# downloaded.txt: A.html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# 2) Evaluez promisiunea B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./LazyWGET.sh "https://site/B.html"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# pending.txt: C.html, D.html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# downloaded.txt: A.html, B.html</a:t>
            </a:r>
          </a:p>
        </p:txBody>
      </p:sp>
      <p:sp>
        <p:nvSpPr>
          <p:cNvPr id="10" name="Shape 8"/>
          <p:cNvSpPr/>
          <p:nvPr/>
        </p:nvSpPr>
        <p:spPr>
          <a:xfrm>
            <a:off x="6903720" y="1097280"/>
            <a:ext cx="4553712" cy="5394960"/>
          </a:xfrm>
          <a:prstGeom prst="roundRect">
            <a:avLst/>
          </a:prstGeom>
          <a:solidFill>
            <a:srgbClr val="102A46"/>
          </a:solidFill>
          <a:ln w="12700">
            <a:solidFill>
              <a:srgbClr val="203A5C"/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178040" y="13258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Edge-case-uri prezentate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78040" y="1691640"/>
            <a:ext cx="4160520" cy="110756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88595" indent="-188595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B8C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URL invalid sau inaccesibil → oprit după --spider</a:t>
            </a:r>
            <a:endParaRPr lang="en-US" sz="1350" dirty="0"/>
          </a:p>
          <a:p>
            <a:pPr marL="188595" indent="-188595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B8C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URL cu /, ?, &amp; etc. → grep -F (match literal)</a:t>
            </a:r>
            <a:endParaRPr lang="en-US" sz="1350" dirty="0"/>
          </a:p>
          <a:p>
            <a:pPr marL="188595" indent="-188595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B8C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Dubluri în pending/downloaded → evitate cu -x (linie întreagă)</a:t>
            </a:r>
            <a:endParaRPr lang="en-US" sz="1350" dirty="0"/>
          </a:p>
          <a:p>
            <a:pPr marL="188595" indent="-188595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B8C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Nume local pentru URL terminat cu / → index.html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2317</Words>
  <Application>Microsoft Office PowerPoint</Application>
  <PresentationFormat>Widescreen</PresentationFormat>
  <Paragraphs>150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LazyWGET</dc:creator>
  <cp:lastModifiedBy>CARLOS CRISTIAN AVRAMESCU</cp:lastModifiedBy>
  <cp:revision>5</cp:revision>
  <dcterms:created xsi:type="dcterms:W3CDTF">2026-01-11T19:07:24Z</dcterms:created>
  <dcterms:modified xsi:type="dcterms:W3CDTF">2026-01-11T19:41:24Z</dcterms:modified>
</cp:coreProperties>
</file>